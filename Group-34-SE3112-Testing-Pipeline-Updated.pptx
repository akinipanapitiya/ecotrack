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8" r:id="rId5"/>
    <p:sldId id="333" r:id="rId6"/>
    <p:sldId id="334" r:id="rId7"/>
    <p:sldId id="338" r:id="rId8"/>
    <p:sldId id="335" r:id="rId9"/>
    <p:sldId id="336" r:id="rId10"/>
    <p:sldId id="337" r:id="rId1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4645" autoAdjust="0"/>
  </p:normalViewPr>
  <p:slideViewPr>
    <p:cSldViewPr snapToGrid="0">
      <p:cViewPr varScale="1">
        <p:scale>
          <a:sx n="99" d="100"/>
          <a:sy n="99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C8BF080-B513-4FD1-93D0-FEE2E667CB2D}" type="datetime1">
              <a:rPr lang="it-IT" smtClean="0"/>
              <a:t>18/10/2026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3333638-148D-48F3-93EA-686F1AB9FFB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B72D1-6DC2-43DD-8639-439D7F0D6891}" type="datetime1">
              <a:rPr lang="it-IT" smtClean="0"/>
              <a:pPr/>
              <a:t>18/10/2026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6C4120E-D8D4-4AFA-B0E2-7989D1701DEB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9081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it-IT" noProof="0" smtClean="0"/>
              <a:t>3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45574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rtlCol="0"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sottotitolo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it-IT" noProof="0"/>
              <a:t>Diapositiva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 siam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it-IT" noProof="0"/>
              <a:t>Informazioni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sottotitolo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636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testo</a:t>
            </a:r>
          </a:p>
        </p:txBody>
      </p:sp>
      <p:sp>
        <p:nvSpPr>
          <p:cNvPr id="10" name="Segnaposto testo 15">
            <a:extLst>
              <a:ext uri="{FF2B5EF4-FFF2-40B4-BE49-F238E27FC236}">
                <a16:creationId xmlns:a16="http://schemas.microsoft.com/office/drawing/2014/main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1" name="Segnaposto testo 30">
            <a:extLst>
              <a:ext uri="{FF2B5EF4-FFF2-40B4-BE49-F238E27FC236}">
                <a16:creationId xmlns:a16="http://schemas.microsoft.com/office/drawing/2014/main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2" name="Segnaposto testo 15">
            <a:extLst>
              <a:ext uri="{FF2B5EF4-FFF2-40B4-BE49-F238E27FC236}">
                <a16:creationId xmlns:a16="http://schemas.microsoft.com/office/drawing/2014/main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3" name="Segnaposto testo 30">
            <a:extLst>
              <a:ext uri="{FF2B5EF4-FFF2-40B4-BE49-F238E27FC236}">
                <a16:creationId xmlns:a16="http://schemas.microsoft.com/office/drawing/2014/main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4" name="Segnaposto testo 15">
            <a:extLst>
              <a:ext uri="{FF2B5EF4-FFF2-40B4-BE49-F238E27FC236}">
                <a16:creationId xmlns:a16="http://schemas.microsoft.com/office/drawing/2014/main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5" name="Segnaposto testo 30">
            <a:extLst>
              <a:ext uri="{FF2B5EF4-FFF2-40B4-BE49-F238E27FC236}">
                <a16:creationId xmlns:a16="http://schemas.microsoft.com/office/drawing/2014/main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8" name="Segnaposto testo 30">
            <a:extLst>
              <a:ext uri="{FF2B5EF4-FFF2-40B4-BE49-F238E27FC236}">
                <a16:creationId xmlns:a16="http://schemas.microsoft.com/office/drawing/2014/main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zion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esto 4">
            <a:extLst>
              <a:ext uri="{FF2B5EF4-FFF2-40B4-BE49-F238E27FC236}">
                <a16:creationId xmlns:a16="http://schemas.microsoft.com/office/drawing/2014/main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it-IT" noProof="0"/>
              <a:t>Soluzione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31" name="Segnaposto testo 30">
            <a:extLst>
              <a:ext uri="{FF2B5EF4-FFF2-40B4-BE49-F238E27FC236}">
                <a16:creationId xmlns:a16="http://schemas.microsoft.com/office/drawing/2014/main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2" name="Segnaposto testo 15">
            <a:extLst>
              <a:ext uri="{FF2B5EF4-FFF2-40B4-BE49-F238E27FC236}">
                <a16:creationId xmlns:a16="http://schemas.microsoft.com/office/drawing/2014/main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33" name="Segnaposto testo 30">
            <a:extLst>
              <a:ext uri="{FF2B5EF4-FFF2-40B4-BE49-F238E27FC236}">
                <a16:creationId xmlns:a16="http://schemas.microsoft.com/office/drawing/2014/main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4" name="Segnaposto testo 15">
            <a:extLst>
              <a:ext uri="{FF2B5EF4-FFF2-40B4-BE49-F238E27FC236}">
                <a16:creationId xmlns:a16="http://schemas.microsoft.com/office/drawing/2014/main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35" name="Segnaposto testo 30">
            <a:extLst>
              <a:ext uri="{FF2B5EF4-FFF2-40B4-BE49-F238E27FC236}">
                <a16:creationId xmlns:a16="http://schemas.microsoft.com/office/drawing/2014/main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6" name="Segnaposto testo 15">
            <a:extLst>
              <a:ext uri="{FF2B5EF4-FFF2-40B4-BE49-F238E27FC236}">
                <a16:creationId xmlns:a16="http://schemas.microsoft.com/office/drawing/2014/main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a del prodot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immagine 7">
            <a:extLst>
              <a:ext uri="{FF2B5EF4-FFF2-40B4-BE49-F238E27FC236}">
                <a16:creationId xmlns:a16="http://schemas.microsoft.com/office/drawing/2014/main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testo</a:t>
            </a:r>
          </a:p>
        </p:txBody>
      </p:sp>
      <p:sp>
        <p:nvSpPr>
          <p:cNvPr id="6" name="Segnaposto testo 15">
            <a:extLst>
              <a:ext uri="{FF2B5EF4-FFF2-40B4-BE49-F238E27FC236}">
                <a16:creationId xmlns:a16="http://schemas.microsoft.com/office/drawing/2014/main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0" name="Segnaposto testo 30">
            <a:extLst>
              <a:ext uri="{FF2B5EF4-FFF2-40B4-BE49-F238E27FC236}">
                <a16:creationId xmlns:a16="http://schemas.microsoft.com/office/drawing/2014/main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1" name="Segnaposto testo 15">
            <a:extLst>
              <a:ext uri="{FF2B5EF4-FFF2-40B4-BE49-F238E27FC236}">
                <a16:creationId xmlns:a16="http://schemas.microsoft.com/office/drawing/2014/main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2" name="Segnaposto testo 30">
            <a:extLst>
              <a:ext uri="{FF2B5EF4-FFF2-40B4-BE49-F238E27FC236}">
                <a16:creationId xmlns:a16="http://schemas.microsoft.com/office/drawing/2014/main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3" name="Segnaposto testo 15">
            <a:extLst>
              <a:ext uri="{FF2B5EF4-FFF2-40B4-BE49-F238E27FC236}">
                <a16:creationId xmlns:a16="http://schemas.microsoft.com/office/drawing/2014/main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4" name="Segnaposto testo 30">
            <a:extLst>
              <a:ext uri="{FF2B5EF4-FFF2-40B4-BE49-F238E27FC236}">
                <a16:creationId xmlns:a16="http://schemas.microsoft.com/office/drawing/2014/main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ntaggi del prodotto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lvl="0" rtl="0"/>
            <a:r>
              <a:rPr lang="it-IT" noProof="0"/>
              <a:t>Vantaggi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immagine 7">
            <a:extLst>
              <a:ext uri="{FF2B5EF4-FFF2-40B4-BE49-F238E27FC236}">
                <a16:creationId xmlns:a16="http://schemas.microsoft.com/office/drawing/2014/main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" name="Segnaposto testo 4">
            <a:extLst>
              <a:ext uri="{FF2B5EF4-FFF2-40B4-BE49-F238E27FC236}">
                <a16:creationId xmlns:a16="http://schemas.microsoft.com/office/drawing/2014/main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Società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rtlCol="0"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lo di busines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21" name="Segnaposto testo 4">
            <a:extLst>
              <a:ext uri="{FF2B5EF4-FFF2-40B4-BE49-F238E27FC236}">
                <a16:creationId xmlns:a16="http://schemas.microsoft.com/office/drawing/2014/main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Business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testo</a:t>
            </a:r>
          </a:p>
        </p:txBody>
      </p:sp>
      <p:sp>
        <p:nvSpPr>
          <p:cNvPr id="10" name="Segnaposto testo 15">
            <a:extLst>
              <a:ext uri="{FF2B5EF4-FFF2-40B4-BE49-F238E27FC236}">
                <a16:creationId xmlns:a16="http://schemas.microsoft.com/office/drawing/2014/main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5" name="Segnaposto testo 15">
            <a:extLst>
              <a:ext uri="{FF2B5EF4-FFF2-40B4-BE49-F238E27FC236}">
                <a16:creationId xmlns:a16="http://schemas.microsoft.com/office/drawing/2014/main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5">
            <a:extLst>
              <a:ext uri="{FF2B5EF4-FFF2-40B4-BE49-F238E27FC236}">
                <a16:creationId xmlns:a16="http://schemas.microsoft.com/office/drawing/2014/main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inserire il testo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a del merca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egnaposto testo 4">
            <a:extLst>
              <a:ext uri="{FF2B5EF4-FFF2-40B4-BE49-F238E27FC236}">
                <a16:creationId xmlns:a16="http://schemas.microsoft.com/office/drawing/2014/main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8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Mercato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testo qui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testo qui</a:t>
            </a:r>
          </a:p>
        </p:txBody>
      </p:sp>
      <p:sp>
        <p:nvSpPr>
          <p:cNvPr id="12" name="Segnaposto testo 14">
            <a:extLst>
              <a:ext uri="{FF2B5EF4-FFF2-40B4-BE49-F238E27FC236}">
                <a16:creationId xmlns:a16="http://schemas.microsoft.com/office/drawing/2014/main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testo qui</a:t>
            </a:r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di mercato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0">
            <a:extLst>
              <a:ext uri="{FF2B5EF4-FFF2-40B4-BE49-F238E27FC236}">
                <a16:creationId xmlns:a16="http://schemas.microsoft.com/office/drawing/2014/main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6" name="Titolo 1">
            <a:extLst>
              <a:ext uri="{FF2B5EF4-FFF2-40B4-BE49-F238E27FC236}">
                <a16:creationId xmlns:a16="http://schemas.microsoft.com/office/drawing/2014/main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8" name="Segnaposto testo 14">
            <a:extLst>
              <a:ext uri="{FF2B5EF4-FFF2-40B4-BE49-F238E27FC236}">
                <a16:creationId xmlns:a16="http://schemas.microsoft.com/office/drawing/2014/main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€ 3b</a:t>
            </a:r>
          </a:p>
        </p:txBody>
      </p:sp>
      <p:sp>
        <p:nvSpPr>
          <p:cNvPr id="20" name="Segnaposto testo 14">
            <a:extLst>
              <a:ext uri="{FF2B5EF4-FFF2-40B4-BE49-F238E27FC236}">
                <a16:creationId xmlns:a16="http://schemas.microsoft.com/office/drawing/2014/main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€ 2b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€ 1b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nostra concorrenz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7">
            <a:extLst>
              <a:ext uri="{FF2B5EF4-FFF2-40B4-BE49-F238E27FC236}">
                <a16:creationId xmlns:a16="http://schemas.microsoft.com/office/drawing/2014/main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5" name="Segnaposto testo 4">
            <a:extLst>
              <a:ext uri="{FF2B5EF4-FFF2-40B4-BE49-F238E27FC236}">
                <a16:creationId xmlns:a16="http://schemas.microsoft.com/office/drawing/2014/main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Concorrenti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2" name="Segnaposto testo 10">
            <a:extLst>
              <a:ext uri="{FF2B5EF4-FFF2-40B4-BE49-F238E27FC236}">
                <a16:creationId xmlns:a16="http://schemas.microsoft.com/office/drawing/2014/main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nostra concorrenza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Segnaposto testo 14">
            <a:extLst>
              <a:ext uri="{FF2B5EF4-FFF2-40B4-BE49-F238E27FC236}">
                <a16:creationId xmlns:a16="http://schemas.microsoft.com/office/drawing/2014/main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8" name="Segnaposto testo 14">
            <a:extLst>
              <a:ext uri="{FF2B5EF4-FFF2-40B4-BE49-F238E27FC236}">
                <a16:creationId xmlns:a16="http://schemas.microsoft.com/office/drawing/2014/main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aggiungere il nome</a:t>
            </a:r>
          </a:p>
        </p:txBody>
      </p:sp>
      <p:sp>
        <p:nvSpPr>
          <p:cNvPr id="9" name="Segnaposto testo 14">
            <a:extLst>
              <a:ext uri="{FF2B5EF4-FFF2-40B4-BE49-F238E27FC236}">
                <a16:creationId xmlns:a16="http://schemas.microsoft.com/office/drawing/2014/main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13" name="Segnaposto testo 14">
            <a:extLst>
              <a:ext uri="{FF2B5EF4-FFF2-40B4-BE49-F238E27FC236}">
                <a16:creationId xmlns:a16="http://schemas.microsoft.com/office/drawing/2014/main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aggiungere il nome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20" name="Segnaposto testo 14">
            <a:extLst>
              <a:ext uri="{FF2B5EF4-FFF2-40B4-BE49-F238E27FC236}">
                <a16:creationId xmlns:a16="http://schemas.microsoft.com/office/drawing/2014/main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egnaposto testo 14">
            <a:extLst>
              <a:ext uri="{FF2B5EF4-FFF2-40B4-BE49-F238E27FC236}">
                <a16:creationId xmlns:a16="http://schemas.microsoft.com/office/drawing/2014/main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26" name="Titolo 1">
            <a:extLst>
              <a:ext uri="{FF2B5EF4-FFF2-40B4-BE49-F238E27FC236}">
                <a16:creationId xmlns:a16="http://schemas.microsoft.com/office/drawing/2014/main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ia di cresci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4">
            <a:extLst>
              <a:ext uri="{FF2B5EF4-FFF2-40B4-BE49-F238E27FC236}">
                <a16:creationId xmlns:a16="http://schemas.microsoft.com/office/drawing/2014/main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8" name="Segnaposto testo 10">
            <a:extLst>
              <a:ext uri="{FF2B5EF4-FFF2-40B4-BE49-F238E27FC236}">
                <a16:creationId xmlns:a16="http://schemas.microsoft.com/office/drawing/2014/main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Avenir Next LT Pro" panose="020B0504020202020204" pitchFamily="34" charset="0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20" name="Segnaposto testo 14">
            <a:extLst>
              <a:ext uri="{FF2B5EF4-FFF2-40B4-BE49-F238E27FC236}">
                <a16:creationId xmlns:a16="http://schemas.microsoft.com/office/drawing/2014/main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Fai clic per aggiungere il nome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damen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31" name="Segnaposto testo 10">
            <a:extLst>
              <a:ext uri="{FF2B5EF4-FFF2-40B4-BE49-F238E27FC236}">
                <a16:creationId xmlns:a16="http://schemas.microsoft.com/office/drawing/2014/main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37" name="Segnaposto testo 10">
            <a:extLst>
              <a:ext uri="{FF2B5EF4-FFF2-40B4-BE49-F238E27FC236}">
                <a16:creationId xmlns:a16="http://schemas.microsoft.com/office/drawing/2014/main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 rtl="0"/>
            <a:r>
              <a:rPr lang="it-IT" noProof="0"/>
              <a:t>Fare clic per inserire il sottotitolo</a:t>
            </a:r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AF0062E6-1EBE-4CBF-B0D1-4737DBF54008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20" name="Segnaposto contenuto 14">
            <a:extLst>
              <a:ext uri="{FF2B5EF4-FFF2-40B4-BE49-F238E27FC236}">
                <a16:creationId xmlns:a16="http://schemas.microsoft.com/office/drawing/2014/main" id="{0E683F27-7485-420D-A15D-93A48B8CFD27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ano d'azione bien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6" name="Segnaposto testo 14">
            <a:extLst>
              <a:ext uri="{FF2B5EF4-FFF2-40B4-BE49-F238E27FC236}">
                <a16:creationId xmlns:a16="http://schemas.microsoft.com/office/drawing/2014/main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7" name="Segnaposto testo 14">
            <a:extLst>
              <a:ext uri="{FF2B5EF4-FFF2-40B4-BE49-F238E27FC236}">
                <a16:creationId xmlns:a16="http://schemas.microsoft.com/office/drawing/2014/main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8" name="Segnaposto testo 14">
            <a:extLst>
              <a:ext uri="{FF2B5EF4-FFF2-40B4-BE49-F238E27FC236}">
                <a16:creationId xmlns:a16="http://schemas.microsoft.com/office/drawing/2014/main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0" name="Segnaposto testo 14">
            <a:extLst>
              <a:ext uri="{FF2B5EF4-FFF2-40B4-BE49-F238E27FC236}">
                <a16:creationId xmlns:a16="http://schemas.microsoft.com/office/drawing/2014/main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2" name="Segnaposto testo 14">
            <a:extLst>
              <a:ext uri="{FF2B5EF4-FFF2-40B4-BE49-F238E27FC236}">
                <a16:creationId xmlns:a16="http://schemas.microsoft.com/office/drawing/2014/main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3" name="Segnaposto testo 14">
            <a:extLst>
              <a:ext uri="{FF2B5EF4-FFF2-40B4-BE49-F238E27FC236}">
                <a16:creationId xmlns:a16="http://schemas.microsoft.com/office/drawing/2014/main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4" name="Segnaposto testo 14">
            <a:extLst>
              <a:ext uri="{FF2B5EF4-FFF2-40B4-BE49-F238E27FC236}">
                <a16:creationId xmlns:a16="http://schemas.microsoft.com/office/drawing/2014/main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5" name="Segnaposto testo 14">
            <a:extLst>
              <a:ext uri="{FF2B5EF4-FFF2-40B4-BE49-F238E27FC236}">
                <a16:creationId xmlns:a16="http://schemas.microsoft.com/office/drawing/2014/main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6" name="Segnaposto testo 14">
            <a:extLst>
              <a:ext uri="{FF2B5EF4-FFF2-40B4-BE49-F238E27FC236}">
                <a16:creationId xmlns:a16="http://schemas.microsoft.com/office/drawing/2014/main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7" name="Segnaposto testo 14">
            <a:extLst>
              <a:ext uri="{FF2B5EF4-FFF2-40B4-BE49-F238E27FC236}">
                <a16:creationId xmlns:a16="http://schemas.microsoft.com/office/drawing/2014/main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8" name="Segnaposto testo 14">
            <a:extLst>
              <a:ext uri="{FF2B5EF4-FFF2-40B4-BE49-F238E27FC236}">
                <a16:creationId xmlns:a16="http://schemas.microsoft.com/office/drawing/2014/main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9" name="Segnaposto testo 14">
            <a:extLst>
              <a:ext uri="{FF2B5EF4-FFF2-40B4-BE49-F238E27FC236}">
                <a16:creationId xmlns:a16="http://schemas.microsoft.com/office/drawing/2014/main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0" name="Segnaposto testo 14">
            <a:extLst>
              <a:ext uri="{FF2B5EF4-FFF2-40B4-BE49-F238E27FC236}">
                <a16:creationId xmlns:a16="http://schemas.microsoft.com/office/drawing/2014/main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1" name="Segnaposto testo 14">
            <a:extLst>
              <a:ext uri="{FF2B5EF4-FFF2-40B4-BE49-F238E27FC236}">
                <a16:creationId xmlns:a16="http://schemas.microsoft.com/office/drawing/2014/main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2" name="Segnaposto testo 14">
            <a:extLst>
              <a:ext uri="{FF2B5EF4-FFF2-40B4-BE49-F238E27FC236}">
                <a16:creationId xmlns:a16="http://schemas.microsoft.com/office/drawing/2014/main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3" name="Segnaposto testo 14">
            <a:extLst>
              <a:ext uri="{FF2B5EF4-FFF2-40B4-BE49-F238E27FC236}">
                <a16:creationId xmlns:a16="http://schemas.microsoft.com/office/drawing/2014/main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4" name="Segnaposto testo 14">
            <a:extLst>
              <a:ext uri="{FF2B5EF4-FFF2-40B4-BE49-F238E27FC236}">
                <a16:creationId xmlns:a16="http://schemas.microsoft.com/office/drawing/2014/main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5" name="Segnaposto testo 14">
            <a:extLst>
              <a:ext uri="{FF2B5EF4-FFF2-40B4-BE49-F238E27FC236}">
                <a16:creationId xmlns:a16="http://schemas.microsoft.com/office/drawing/2014/main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6" name="Segnaposto testo 14">
            <a:extLst>
              <a:ext uri="{FF2B5EF4-FFF2-40B4-BE49-F238E27FC236}">
                <a16:creationId xmlns:a16="http://schemas.microsoft.com/office/drawing/2014/main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7" name="Segnaposto testo 14">
            <a:extLst>
              <a:ext uri="{FF2B5EF4-FFF2-40B4-BE49-F238E27FC236}">
                <a16:creationId xmlns:a16="http://schemas.microsoft.com/office/drawing/2014/main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38" name="Segnaposto testo 14">
            <a:extLst>
              <a:ext uri="{FF2B5EF4-FFF2-40B4-BE49-F238E27FC236}">
                <a16:creationId xmlns:a16="http://schemas.microsoft.com/office/drawing/2014/main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1" name="Segnaposto testo 14">
            <a:extLst>
              <a:ext uri="{FF2B5EF4-FFF2-40B4-BE49-F238E27FC236}">
                <a16:creationId xmlns:a16="http://schemas.microsoft.com/office/drawing/2014/main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l'anno</a:t>
            </a:r>
          </a:p>
        </p:txBody>
      </p:sp>
      <p:sp>
        <p:nvSpPr>
          <p:cNvPr id="52" name="Segnaposto testo 14">
            <a:extLst>
              <a:ext uri="{FF2B5EF4-FFF2-40B4-BE49-F238E27FC236}">
                <a16:creationId xmlns:a16="http://schemas.microsoft.com/office/drawing/2014/main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l'anno</a:t>
            </a:r>
          </a:p>
        </p:txBody>
      </p:sp>
      <p:sp>
        <p:nvSpPr>
          <p:cNvPr id="53" name="Segnaposto testo 14">
            <a:extLst>
              <a:ext uri="{FF2B5EF4-FFF2-40B4-BE49-F238E27FC236}">
                <a16:creationId xmlns:a16="http://schemas.microsoft.com/office/drawing/2014/main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4" name="Segnaposto testo 14">
            <a:extLst>
              <a:ext uri="{FF2B5EF4-FFF2-40B4-BE49-F238E27FC236}">
                <a16:creationId xmlns:a16="http://schemas.microsoft.com/office/drawing/2014/main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5" name="Segnaposto testo 14">
            <a:extLst>
              <a:ext uri="{FF2B5EF4-FFF2-40B4-BE49-F238E27FC236}">
                <a16:creationId xmlns:a16="http://schemas.microsoft.com/office/drawing/2014/main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6" name="Segnaposto testo 14">
            <a:extLst>
              <a:ext uri="{FF2B5EF4-FFF2-40B4-BE49-F238E27FC236}">
                <a16:creationId xmlns:a16="http://schemas.microsoft.com/office/drawing/2014/main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7" name="Segnaposto testo 14">
            <a:extLst>
              <a:ext uri="{FF2B5EF4-FFF2-40B4-BE49-F238E27FC236}">
                <a16:creationId xmlns:a16="http://schemas.microsoft.com/office/drawing/2014/main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58" name="Segnaposto testo 14">
            <a:extLst>
              <a:ext uri="{FF2B5EF4-FFF2-40B4-BE49-F238E27FC236}">
                <a16:creationId xmlns:a16="http://schemas.microsoft.com/office/drawing/2014/main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i finanziar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7">
            <a:extLst>
              <a:ext uri="{FF2B5EF4-FFF2-40B4-BE49-F238E27FC236}">
                <a16:creationId xmlns:a16="http://schemas.microsoft.com/office/drawing/2014/main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4F792BF5-C216-472F-93C8-9E12D88E6B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ontra il nostro team_4 person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testo 4">
            <a:extLst>
              <a:ext uri="{FF2B5EF4-FFF2-40B4-BE49-F238E27FC236}">
                <a16:creationId xmlns:a16="http://schemas.microsoft.com/office/drawing/2014/main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Team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9" name="Segnaposto immagine 9">
            <a:extLst>
              <a:ext uri="{FF2B5EF4-FFF2-40B4-BE49-F238E27FC236}">
                <a16:creationId xmlns:a16="http://schemas.microsoft.com/office/drawing/2014/main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nome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12" name="Segnaposto immagine 9">
            <a:extLst>
              <a:ext uri="{FF2B5EF4-FFF2-40B4-BE49-F238E27FC236}">
                <a16:creationId xmlns:a16="http://schemas.microsoft.com/office/drawing/2014/main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3" name="Segnaposto immagine 9">
            <a:extLst>
              <a:ext uri="{FF2B5EF4-FFF2-40B4-BE49-F238E27FC236}">
                <a16:creationId xmlns:a16="http://schemas.microsoft.com/office/drawing/2014/main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4" name="Segnaposto immagine 9">
            <a:extLst>
              <a:ext uri="{FF2B5EF4-FFF2-40B4-BE49-F238E27FC236}">
                <a16:creationId xmlns:a16="http://schemas.microsoft.com/office/drawing/2014/main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nome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17" name="Segnaposto testo 10">
            <a:extLst>
              <a:ext uri="{FF2B5EF4-FFF2-40B4-BE49-F238E27FC236}">
                <a16:creationId xmlns:a16="http://schemas.microsoft.com/office/drawing/2014/main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nome</a:t>
            </a:r>
          </a:p>
        </p:txBody>
      </p:sp>
      <p:sp>
        <p:nvSpPr>
          <p:cNvPr id="18" name="Segnaposto testo 10">
            <a:extLst>
              <a:ext uri="{FF2B5EF4-FFF2-40B4-BE49-F238E27FC236}">
                <a16:creationId xmlns:a16="http://schemas.microsoft.com/office/drawing/2014/main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19" name="Segnaposto testo 10">
            <a:extLst>
              <a:ext uri="{FF2B5EF4-FFF2-40B4-BE49-F238E27FC236}">
                <a16:creationId xmlns:a16="http://schemas.microsoft.com/office/drawing/2014/main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nome</a:t>
            </a:r>
          </a:p>
        </p:txBody>
      </p:sp>
      <p:sp>
        <p:nvSpPr>
          <p:cNvPr id="20" name="Segnaposto testo 10">
            <a:extLst>
              <a:ext uri="{FF2B5EF4-FFF2-40B4-BE49-F238E27FC236}">
                <a16:creationId xmlns:a16="http://schemas.microsoft.com/office/drawing/2014/main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ontra il nostro team_8 persone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8" name="Segnaposto immagine 9">
            <a:extLst>
              <a:ext uri="{FF2B5EF4-FFF2-40B4-BE49-F238E27FC236}">
                <a16:creationId xmlns:a16="http://schemas.microsoft.com/office/drawing/2014/main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11" name="Segnaposto testo 14">
            <a:extLst>
              <a:ext uri="{FF2B5EF4-FFF2-40B4-BE49-F238E27FC236}">
                <a16:creationId xmlns:a16="http://schemas.microsoft.com/office/drawing/2014/main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12" name="Segnaposto testo 14">
            <a:extLst>
              <a:ext uri="{FF2B5EF4-FFF2-40B4-BE49-F238E27FC236}">
                <a16:creationId xmlns:a16="http://schemas.microsoft.com/office/drawing/2014/main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13" name="Segnaposto testo 14">
            <a:extLst>
              <a:ext uri="{FF2B5EF4-FFF2-40B4-BE49-F238E27FC236}">
                <a16:creationId xmlns:a16="http://schemas.microsoft.com/office/drawing/2014/main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14" name="Segnaposto testo 14">
            <a:extLst>
              <a:ext uri="{FF2B5EF4-FFF2-40B4-BE49-F238E27FC236}">
                <a16:creationId xmlns:a16="http://schemas.microsoft.com/office/drawing/2014/main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16" name="Segnaposto testo 14">
            <a:extLst>
              <a:ext uri="{FF2B5EF4-FFF2-40B4-BE49-F238E27FC236}">
                <a16:creationId xmlns:a16="http://schemas.microsoft.com/office/drawing/2014/main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38" name="Segnaposto testo 14">
            <a:extLst>
              <a:ext uri="{FF2B5EF4-FFF2-40B4-BE49-F238E27FC236}">
                <a16:creationId xmlns:a16="http://schemas.microsoft.com/office/drawing/2014/main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47" name="Segnaposto testo 14">
            <a:extLst>
              <a:ext uri="{FF2B5EF4-FFF2-40B4-BE49-F238E27FC236}">
                <a16:creationId xmlns:a16="http://schemas.microsoft.com/office/drawing/2014/main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48" name="Segnaposto testo 14">
            <a:extLst>
              <a:ext uri="{FF2B5EF4-FFF2-40B4-BE49-F238E27FC236}">
                <a16:creationId xmlns:a16="http://schemas.microsoft.com/office/drawing/2014/main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49" name="Segnaposto testo 14">
            <a:extLst>
              <a:ext uri="{FF2B5EF4-FFF2-40B4-BE49-F238E27FC236}">
                <a16:creationId xmlns:a16="http://schemas.microsoft.com/office/drawing/2014/main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50" name="Segnaposto testo 14">
            <a:extLst>
              <a:ext uri="{FF2B5EF4-FFF2-40B4-BE49-F238E27FC236}">
                <a16:creationId xmlns:a16="http://schemas.microsoft.com/office/drawing/2014/main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51" name="Segnaposto testo 14">
            <a:extLst>
              <a:ext uri="{FF2B5EF4-FFF2-40B4-BE49-F238E27FC236}">
                <a16:creationId xmlns:a16="http://schemas.microsoft.com/office/drawing/2014/main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52" name="Segnaposto testo 14">
            <a:extLst>
              <a:ext uri="{FF2B5EF4-FFF2-40B4-BE49-F238E27FC236}">
                <a16:creationId xmlns:a16="http://schemas.microsoft.com/office/drawing/2014/main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53" name="Segnaposto testo 14">
            <a:extLst>
              <a:ext uri="{FF2B5EF4-FFF2-40B4-BE49-F238E27FC236}">
                <a16:creationId xmlns:a16="http://schemas.microsoft.com/office/drawing/2014/main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57" name="Segnaposto testo 14">
            <a:extLst>
              <a:ext uri="{FF2B5EF4-FFF2-40B4-BE49-F238E27FC236}">
                <a16:creationId xmlns:a16="http://schemas.microsoft.com/office/drawing/2014/main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Aggiungere il nome</a:t>
            </a:r>
          </a:p>
        </p:txBody>
      </p:sp>
      <p:sp>
        <p:nvSpPr>
          <p:cNvPr id="33" name="Segnaposto immagine 9">
            <a:extLst>
              <a:ext uri="{FF2B5EF4-FFF2-40B4-BE49-F238E27FC236}">
                <a16:creationId xmlns:a16="http://schemas.microsoft.com/office/drawing/2014/main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39" name="Segnaposto immagine 9">
            <a:extLst>
              <a:ext uri="{FF2B5EF4-FFF2-40B4-BE49-F238E27FC236}">
                <a16:creationId xmlns:a16="http://schemas.microsoft.com/office/drawing/2014/main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0" name="Segnaposto immagine 9">
            <a:extLst>
              <a:ext uri="{FF2B5EF4-FFF2-40B4-BE49-F238E27FC236}">
                <a16:creationId xmlns:a16="http://schemas.microsoft.com/office/drawing/2014/main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aggiungere una foto</a:t>
            </a:r>
          </a:p>
        </p:txBody>
      </p:sp>
      <p:sp>
        <p:nvSpPr>
          <p:cNvPr id="41" name="Segnaposto immagine 9">
            <a:extLst>
              <a:ext uri="{FF2B5EF4-FFF2-40B4-BE49-F238E27FC236}">
                <a16:creationId xmlns:a16="http://schemas.microsoft.com/office/drawing/2014/main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2" name="Segnaposto immagine 9">
            <a:extLst>
              <a:ext uri="{FF2B5EF4-FFF2-40B4-BE49-F238E27FC236}">
                <a16:creationId xmlns:a16="http://schemas.microsoft.com/office/drawing/2014/main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3" name="Segnaposto immagine 9">
            <a:extLst>
              <a:ext uri="{FF2B5EF4-FFF2-40B4-BE49-F238E27FC236}">
                <a16:creationId xmlns:a16="http://schemas.microsoft.com/office/drawing/2014/main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44" name="Segnaposto immagine 9">
            <a:extLst>
              <a:ext uri="{FF2B5EF4-FFF2-40B4-BE49-F238E27FC236}">
                <a16:creationId xmlns:a16="http://schemas.microsoft.com/office/drawing/2014/main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aggiungere una foto</a:t>
            </a:r>
          </a:p>
        </p:txBody>
      </p:sp>
      <p:sp>
        <p:nvSpPr>
          <p:cNvPr id="30" name="Titolo 1">
            <a:extLst>
              <a:ext uri="{FF2B5EF4-FFF2-40B4-BE49-F238E27FC236}">
                <a16:creationId xmlns:a16="http://schemas.microsoft.com/office/drawing/2014/main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ziamenti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20" name="Segnaposto testo 14">
            <a:extLst>
              <a:ext uri="{FF2B5EF4-FFF2-40B4-BE49-F238E27FC236}">
                <a16:creationId xmlns:a16="http://schemas.microsoft.com/office/drawing/2014/main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2" name="Segnaposto testo 14">
            <a:extLst>
              <a:ext uri="{FF2B5EF4-FFF2-40B4-BE49-F238E27FC236}">
                <a16:creationId xmlns:a16="http://schemas.microsoft.com/office/drawing/2014/main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23" name="Segnaposto testo 14">
            <a:extLst>
              <a:ext uri="{FF2B5EF4-FFF2-40B4-BE49-F238E27FC236}">
                <a16:creationId xmlns:a16="http://schemas.microsoft.com/office/drawing/2014/main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4" name="Segnaposto testo 14">
            <a:extLst>
              <a:ext uri="{FF2B5EF4-FFF2-40B4-BE49-F238E27FC236}">
                <a16:creationId xmlns:a16="http://schemas.microsoft.com/office/drawing/2014/main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25" name="Segnaposto testo 14">
            <a:extLst>
              <a:ext uri="{FF2B5EF4-FFF2-40B4-BE49-F238E27FC236}">
                <a16:creationId xmlns:a16="http://schemas.microsoft.com/office/drawing/2014/main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6" name="Segnaposto testo 14">
            <a:extLst>
              <a:ext uri="{FF2B5EF4-FFF2-40B4-BE49-F238E27FC236}">
                <a16:creationId xmlns:a16="http://schemas.microsoft.com/office/drawing/2014/main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Fare clic per inserire il titolo</a:t>
            </a:r>
          </a:p>
        </p:txBody>
      </p:sp>
      <p:sp>
        <p:nvSpPr>
          <p:cNvPr id="27" name="Segnaposto testo 14">
            <a:extLst>
              <a:ext uri="{FF2B5EF4-FFF2-40B4-BE49-F238E27FC236}">
                <a16:creationId xmlns:a16="http://schemas.microsoft.com/office/drawing/2014/main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it-IT" noProof="0"/>
              <a:t>Fare clic per inserire il testo</a:t>
            </a:r>
          </a:p>
        </p:txBody>
      </p:sp>
      <p:sp>
        <p:nvSpPr>
          <p:cNvPr id="28" name="Segnaposto testo 10">
            <a:extLst>
              <a:ext uri="{FF2B5EF4-FFF2-40B4-BE49-F238E27FC236}">
                <a16:creationId xmlns:a16="http://schemas.microsoft.com/office/drawing/2014/main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29" name="Segnaposto testo 10">
            <a:extLst>
              <a:ext uri="{FF2B5EF4-FFF2-40B4-BE49-F238E27FC236}">
                <a16:creationId xmlns:a16="http://schemas.microsoft.com/office/drawing/2014/main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  <p:sp>
        <p:nvSpPr>
          <p:cNvPr id="30" name="Segnaposto testo 10">
            <a:extLst>
              <a:ext uri="{FF2B5EF4-FFF2-40B4-BE49-F238E27FC236}">
                <a16:creationId xmlns:a16="http://schemas.microsoft.com/office/drawing/2014/main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Inserire il titolo</a:t>
            </a:r>
          </a:p>
        </p:txBody>
      </p:sp>
      <p:sp>
        <p:nvSpPr>
          <p:cNvPr id="31" name="Segnaposto testo 10">
            <a:extLst>
              <a:ext uri="{FF2B5EF4-FFF2-40B4-BE49-F238E27FC236}">
                <a16:creationId xmlns:a16="http://schemas.microsoft.com/office/drawing/2014/main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it-IT" noProof="0"/>
              <a:t>Aggiungi il titolo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7">
            <a:extLst>
              <a:ext uri="{FF2B5EF4-FFF2-40B4-BE49-F238E27FC236}">
                <a16:creationId xmlns:a16="http://schemas.microsoft.com/office/drawing/2014/main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Somma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sottotitolo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z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7">
            <a:extLst>
              <a:ext uri="{FF2B5EF4-FFF2-40B4-BE49-F238E27FC236}">
                <a16:creationId xmlns:a16="http://schemas.microsoft.com/office/drawing/2014/main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Fai clic per aggiungere una foto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inserire il titolo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inserire il sottotitolo</a:t>
            </a:r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it-IT" noProof="0"/>
              <a:t>Than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it-IT" noProof="0"/>
              <a:t>03/08/20XX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r>
              <a:rPr lang="it-IT" noProof="0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Avenir Next LT Pro" panose="020B0504020202020204" pitchFamily="34" charset="0"/>
              </a:defRPr>
            </a:lvl1pPr>
          </a:lstStyle>
          <a:p>
            <a:pPr rtl="0"/>
            <a:fld id="{4F6357DA-28E9-40D3-918C-4D14E8263D81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>
                <a:lumMod val="40000"/>
                <a:lumOff val="60000"/>
              </a:schemeClr>
            </a:gs>
            <a:gs pos="48000">
              <a:schemeClr val="accent3">
                <a:lumMod val="75000"/>
              </a:schemeClr>
            </a:gs>
            <a:gs pos="100000">
              <a:schemeClr val="accent3">
                <a:lumMod val="5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egnaposto immagine 18">
            <a:extLst>
              <a:ext uri="{FF2B5EF4-FFF2-40B4-BE49-F238E27FC236}">
                <a16:creationId xmlns:a16="http://schemas.microsoft.com/office/drawing/2014/main" id="{43474057-1F43-4A8C-A00F-A151DC1D10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97000"/>
          </a:blip>
          <a:srcRect/>
          <a:stretch/>
        </p:blipFill>
        <p:spPr>
          <a:xfrm>
            <a:off x="0" y="0"/>
            <a:ext cx="12192000" cy="6858001"/>
          </a:xfr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934056CF-DEDB-4079-BF11-FA4761D09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186" y="827871"/>
            <a:ext cx="10863469" cy="1143000"/>
          </a:xfrm>
        </p:spPr>
        <p:txBody>
          <a:bodyPr rtlCol="0"/>
          <a:lstStyle/>
          <a:p>
            <a:pPr algn="ctr" rtl="0"/>
            <a:r>
              <a:rPr lang="it-IT" sz="7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ECO Track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E53DDC-E70A-4624-8623-51510E9F85A6}"/>
              </a:ext>
            </a:extLst>
          </p:cNvPr>
          <p:cNvSpPr/>
          <p:nvPr/>
        </p:nvSpPr>
        <p:spPr>
          <a:xfrm>
            <a:off x="8452965" y="5328166"/>
            <a:ext cx="33938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48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FF"/>
                </a:highlight>
              </a:rPr>
              <a:t>Group  34</a:t>
            </a:r>
            <a:endParaRPr lang="en-US" sz="48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Architecture &amp; Test Automation Pipeline</a:t>
            </a:r>
          </a:p>
        </p:txBody>
      </p:sp>
      <p:sp>
        <p:nvSpPr>
          <p:cNvPr id="101" name="Owner 101"/>
          <p:cNvSpPr txBox="1"/>
          <p:nvPr/>
        </p:nvSpPr>
        <p:spPr>
          <a:xfrm>
            <a:off x="457200" y="932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E2D2"/>
                </a:solidFill>
              </a:rPr>
              <a:t>Group 34 · SE3022 EcoTrack → SE3112 testing pipeline</a:t>
            </a:r>
          </a:p>
        </p:txBody>
      </p:sp>
      <p:sp>
        <p:nvSpPr>
          <p:cNvPr id="102" name="Shape 102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SE3022 ARCHITECTURE</a:t>
            </a:r>
          </a:p>
        </p:txBody>
      </p:sp>
      <p:sp>
        <p:nvSpPr>
          <p:cNvPr id="103" name="Chip 103"/>
          <p:cNvSpPr/>
          <p:nvPr/>
        </p:nvSpPr>
        <p:spPr>
          <a:xfrm>
            <a:off x="457200" y="17830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343D2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SPA (Vite)</a:t>
            </a:r>
          </a:p>
        </p:txBody>
      </p:sp>
      <p:sp>
        <p:nvSpPr>
          <p:cNvPr id="104" name="Arrow 104"/>
          <p:cNvSpPr/>
          <p:nvPr/>
        </p:nvSpPr>
        <p:spPr>
          <a:xfrm>
            <a:off x="2633472" y="1920240"/>
            <a:ext cx="365760" cy="228600"/>
          </a:xfrm>
          <a:prstGeom prst="rightArrow">
            <a:avLst/>
          </a:prstGeom>
          <a:solidFill>
            <a:srgbClr val="D9E2D2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05" name="Chip 105"/>
          <p:cNvSpPr/>
          <p:nvPr/>
        </p:nvSpPr>
        <p:spPr>
          <a:xfrm>
            <a:off x="3063240" y="178308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343D2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Caddy HTTPS proxy</a:t>
            </a:r>
          </a:p>
        </p:txBody>
      </p:sp>
      <p:sp>
        <p:nvSpPr>
          <p:cNvPr id="106" name="Arrow 106"/>
          <p:cNvSpPr/>
          <p:nvPr/>
        </p:nvSpPr>
        <p:spPr>
          <a:xfrm>
            <a:off x="5239512" y="1920240"/>
            <a:ext cx="365760" cy="228600"/>
          </a:xfrm>
          <a:prstGeom prst="rightArrow">
            <a:avLst/>
          </a:prstGeom>
          <a:solidFill>
            <a:srgbClr val="D9E2D2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07" name="Service 107"/>
          <p:cNvSpPr/>
          <p:nvPr/>
        </p:nvSpPr>
        <p:spPr>
          <a:xfrm>
            <a:off x="5669280" y="1691640"/>
            <a:ext cx="1463040" cy="685800"/>
          </a:xfrm>
          <a:prstGeom prst="roundRect">
            <a:avLst>
              <a:gd name="adj" fmla="val 10000"/>
            </a:avLst>
          </a:prstGeom>
          <a:solidFill>
            <a:srgbClr val="56624E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Identity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ASP.NET Core 10</a:t>
            </a:r>
          </a:p>
        </p:txBody>
      </p:sp>
      <p:sp>
        <p:nvSpPr>
          <p:cNvPr id="108" name="Service 108"/>
          <p:cNvSpPr/>
          <p:nvPr/>
        </p:nvSpPr>
        <p:spPr>
          <a:xfrm>
            <a:off x="7242048" y="1691640"/>
            <a:ext cx="1463040" cy="685800"/>
          </a:xfrm>
          <a:prstGeom prst="roundRect">
            <a:avLst>
              <a:gd name="adj" fmla="val 10000"/>
            </a:avLst>
          </a:prstGeom>
          <a:solidFill>
            <a:srgbClr val="56624E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Logistics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ASP.NET Core 10</a:t>
            </a:r>
          </a:p>
        </p:txBody>
      </p:sp>
      <p:sp>
        <p:nvSpPr>
          <p:cNvPr id="109" name="Service 109"/>
          <p:cNvSpPr/>
          <p:nvPr/>
        </p:nvSpPr>
        <p:spPr>
          <a:xfrm>
            <a:off x="8814816" y="1691640"/>
            <a:ext cx="1463040" cy="685800"/>
          </a:xfrm>
          <a:prstGeom prst="roundRect">
            <a:avLst>
              <a:gd name="adj" fmla="val 10000"/>
            </a:avLst>
          </a:prstGeom>
          <a:solidFill>
            <a:srgbClr val="56624E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Marketplace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ASP.NET Core 10</a:t>
            </a:r>
          </a:p>
        </p:txBody>
      </p:sp>
      <p:sp>
        <p:nvSpPr>
          <p:cNvPr id="110" name="Service 110"/>
          <p:cNvSpPr/>
          <p:nvPr/>
        </p:nvSpPr>
        <p:spPr>
          <a:xfrm>
            <a:off x="10387584" y="1691640"/>
            <a:ext cx="1463040" cy="685800"/>
          </a:xfrm>
          <a:prstGeom prst="roundRect">
            <a:avLst>
              <a:gd name="adj" fmla="val 10000"/>
            </a:avLst>
          </a:prstGeom>
          <a:solidFill>
            <a:srgbClr val="56624E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Analytics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ASP.NET Core 10</a:t>
            </a:r>
          </a:p>
        </p:txBody>
      </p:sp>
      <p:sp>
        <p:nvSpPr>
          <p:cNvPr id="111" name="Chip 111"/>
          <p:cNvSpPr/>
          <p:nvPr/>
        </p:nvSpPr>
        <p:spPr>
          <a:xfrm>
            <a:off x="5669280" y="2514600"/>
            <a:ext cx="3035808" cy="365760"/>
          </a:xfrm>
          <a:prstGeom prst="roundRect">
            <a:avLst>
              <a:gd name="adj" fmla="val 50000"/>
            </a:avLst>
          </a:prstGeom>
          <a:solidFill>
            <a:srgbClr val="343D2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 · one database per service</a:t>
            </a:r>
          </a:p>
        </p:txBody>
      </p:sp>
      <p:sp>
        <p:nvSpPr>
          <p:cNvPr id="112" name="Chip 112"/>
          <p:cNvSpPr/>
          <p:nvPr/>
        </p:nvSpPr>
        <p:spPr>
          <a:xfrm>
            <a:off x="8814816" y="2514600"/>
            <a:ext cx="2999232" cy="365760"/>
          </a:xfrm>
          <a:prstGeom prst="roundRect">
            <a:avLst>
              <a:gd name="adj" fmla="val 50000"/>
            </a:avLst>
          </a:prstGeom>
          <a:solidFill>
            <a:srgbClr val="343D2F"/>
          </a:solidFill>
          <a:ln>
            <a:noFill/>
          </a:ln>
        </p:spPr>
        <p:txBody>
          <a:bodyPr wrap="square" lIns="36576" tIns="36576" rIns="36576" bIns="3657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Apache Kafka · events between services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TEST AUTOMATION PIPELINE</a:t>
            </a:r>
          </a:p>
        </p:txBody>
      </p:sp>
      <p:sp>
        <p:nvSpPr>
          <p:cNvPr id="114" name="Step 114"/>
          <p:cNvSpPr/>
          <p:nvPr/>
        </p:nvSpPr>
        <p:spPr>
          <a:xfrm>
            <a:off x="457200" y="3520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56624E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1  Build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.NET 10 services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React bundle</a:t>
            </a:r>
          </a:p>
        </p:txBody>
      </p:sp>
      <p:sp>
        <p:nvSpPr>
          <p:cNvPr id="115" name="Arrow 115"/>
          <p:cNvSpPr/>
          <p:nvPr/>
        </p:nvSpPr>
        <p:spPr>
          <a:xfrm>
            <a:off x="2450592" y="4023360"/>
            <a:ext cx="256032" cy="228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16" name="Step 116"/>
          <p:cNvSpPr/>
          <p:nvPr/>
        </p:nvSpPr>
        <p:spPr>
          <a:xfrm>
            <a:off x="2743200" y="3520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56624E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2  Unit tests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xUnit + Moq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159 tests</a:t>
            </a:r>
          </a:p>
        </p:txBody>
      </p:sp>
      <p:sp>
        <p:nvSpPr>
          <p:cNvPr id="117" name="Arrow 117"/>
          <p:cNvSpPr/>
          <p:nvPr/>
        </p:nvSpPr>
        <p:spPr>
          <a:xfrm>
            <a:off x="4736592" y="4023360"/>
            <a:ext cx="256032" cy="228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18" name="Step 118"/>
          <p:cNvSpPr/>
          <p:nvPr/>
        </p:nvSpPr>
        <p:spPr>
          <a:xfrm>
            <a:off x="5029200" y="3520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56624E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3  Quality gate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Coverlet · Analyzers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SonarQube</a:t>
            </a:r>
          </a:p>
        </p:txBody>
      </p:sp>
      <p:sp>
        <p:nvSpPr>
          <p:cNvPr id="119" name="Arrow 119"/>
          <p:cNvSpPr/>
          <p:nvPr/>
        </p:nvSpPr>
        <p:spPr>
          <a:xfrm>
            <a:off x="7022592" y="4023360"/>
            <a:ext cx="256032" cy="228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20" name="Step 120"/>
          <p:cNvSpPr/>
          <p:nvPr/>
        </p:nvSpPr>
        <p:spPr>
          <a:xfrm>
            <a:off x="7315200" y="3520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56624E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4  E2E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Selenium WebDriver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browser flows</a:t>
            </a:r>
          </a:p>
        </p:txBody>
      </p:sp>
      <p:sp>
        <p:nvSpPr>
          <p:cNvPr id="121" name="Arrow 121"/>
          <p:cNvSpPr/>
          <p:nvPr/>
        </p:nvSpPr>
        <p:spPr>
          <a:xfrm>
            <a:off x="9308592" y="4023360"/>
            <a:ext cx="256032" cy="22860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txBody>
          <a:bodyPr wrap="square" lIns="91440" tIns="91440" rIns="91440" bIns="91440" rtlCol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22" name="Step 122"/>
          <p:cNvSpPr/>
          <p:nvPr/>
        </p:nvSpPr>
        <p:spPr>
          <a:xfrm>
            <a:off x="9601200" y="3520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56624E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5  Load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JMeter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FFFFFF"/>
                </a:solidFill>
              </a:rPr>
              <a:t>3 load profiles</a:t>
            </a:r>
          </a:p>
        </p:txBody>
      </p:sp>
      <p:sp>
        <p:nvSpPr>
          <p:cNvPr id="123" name="Footer 123"/>
          <p:cNvSpPr/>
          <p:nvPr/>
        </p:nvSpPr>
        <p:spPr>
          <a:xfrm>
            <a:off x="457200" y="4983480"/>
            <a:ext cx="11338560" cy="1097280"/>
          </a:xfrm>
          <a:prstGeom prst="roundRect">
            <a:avLst>
              <a:gd name="adj" fmla="val 6000"/>
            </a:avLst>
          </a:prstGeom>
          <a:solidFill>
            <a:srgbClr val="343D2F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C000"/>
                </a:solidFill>
              </a:rPr>
              <a:t>In CI: </a:t>
            </a:r>
            <a:r>
              <a:rPr lang="en-US" sz="1300" b="0" dirty="0">
                <a:solidFill>
                  <a:srgbClr val="FFFFFF"/>
                </a:solidFill>
              </a:rPr>
              <a:t>GitHub Actions runs build, unit tests, mutation testing and quality gates on every push and PR. A failing stage turns the run red and blocks the merge; reports are uploaded as artifacts.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C000"/>
                </a:solidFill>
              </a:rPr>
              <a:t>Run locally: </a:t>
            </a:r>
            <a:r>
              <a:rPr lang="en-US" sz="1300" b="0" dirty="0">
                <a:solidFill>
                  <a:srgbClr val="FFFFFF"/>
                </a:solidFill>
              </a:rPr>
              <a:t>dotnet test EcoTrack.slnx  ·  ./mutation/run-mutation.ps1  ·  ./quality/run-code-quality.ps1 -Sonar  ·  tests/jmeter/run_sprint4_jmeter.sh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Unit Testing &amp; Mocking</a:t>
            </a:r>
          </a:p>
        </p:txBody>
      </p:sp>
      <p:sp>
        <p:nvSpPr>
          <p:cNvPr id="124" name="Owner 124"/>
          <p:cNvSpPr txBox="1"/>
          <p:nvPr/>
        </p:nvSpPr>
        <p:spPr>
          <a:xfrm>
            <a:off x="457200" y="932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E2D2"/>
                </a:solidFill>
              </a:rPr>
              <a:t>Owner: Panapitiya P D A S | IT24610790  |  </a:t>
            </a:r>
            <a:r>
              <a:rPr lang="en-US" sz="1400" b="1" dirty="0" err="1">
                <a:solidFill>
                  <a:srgbClr val="D9E2D2"/>
                </a:solidFill>
              </a:rPr>
              <a:t>xUnit</a:t>
            </a:r>
            <a:r>
              <a:rPr lang="en-US" sz="1400" b="1" dirty="0">
                <a:solidFill>
                  <a:srgbClr val="D9E2D2"/>
                </a:solidFill>
              </a:rPr>
              <a:t> | Moq</a:t>
            </a:r>
          </a:p>
        </p:txBody>
      </p:sp>
      <p:sp>
        <p:nvSpPr>
          <p:cNvPr id="125" name="Stat 125"/>
          <p:cNvSpPr/>
          <p:nvPr/>
        </p:nvSpPr>
        <p:spPr>
          <a:xfrm>
            <a:off x="457200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189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unit tests, all passing</a:t>
            </a:r>
          </a:p>
        </p:txBody>
      </p:sp>
      <p:sp>
        <p:nvSpPr>
          <p:cNvPr id="126" name="Stat 126"/>
          <p:cNvSpPr/>
          <p:nvPr/>
        </p:nvSpPr>
        <p:spPr>
          <a:xfrm>
            <a:off x="3291840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3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test projects (Identity, Logistics, Marketplace)</a:t>
            </a:r>
          </a:p>
        </p:txBody>
      </p:sp>
      <p:sp>
        <p:nvSpPr>
          <p:cNvPr id="127" name="Stat 127"/>
          <p:cNvSpPr/>
          <p:nvPr/>
        </p:nvSpPr>
        <p:spPr>
          <a:xfrm>
            <a:off x="6126480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CC070"/>
                </a:solidFill>
              </a:rPr>
              <a:t>0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failures | run in about 2s</a:t>
            </a:r>
          </a:p>
        </p:txBody>
      </p:sp>
      <p:sp>
        <p:nvSpPr>
          <p:cNvPr id="128" name="Stat 128"/>
          <p:cNvSpPr/>
          <p:nvPr/>
        </p:nvSpPr>
        <p:spPr>
          <a:xfrm>
            <a:off x="8961120" y="1463040"/>
            <a:ext cx="278892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101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mock Verify(...) checks</a:t>
            </a:r>
          </a:p>
        </p:txBody>
      </p:sp>
      <p:sp>
        <p:nvSpPr>
          <p:cNvPr id="129" name="Card 129"/>
          <p:cNvSpPr/>
          <p:nvPr/>
        </p:nvSpPr>
        <p:spPr>
          <a:xfrm>
            <a:off x="457200" y="27432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Test doubles (Moq)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LK" sz="1300" dirty="0">
                <a:solidFill>
                  <a:schemeClr val="bg1"/>
                </a:solidFill>
                <a:cs typeface="Times New Roman" panose="02020603050405020304" pitchFamily="18" charset="0"/>
              </a:rPr>
              <a:t>Mock&lt;IUserRepository&gt;, IPickupRepository, IListingRepository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LK" sz="1300" dirty="0">
                <a:solidFill>
                  <a:schemeClr val="bg1"/>
                </a:solidFill>
                <a:cs typeface="Times New Roman" panose="02020603050405020304" pitchFamily="18" charset="0"/>
              </a:rPr>
              <a:t>Mock&lt;IEventPublisher&gt; stands in for Kafka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LK" sz="1300" dirty="0">
                <a:solidFill>
                  <a:schemeClr val="bg1"/>
                </a:solidFill>
                <a:cs typeface="Times New Roman" panose="02020603050405020304" pitchFamily="18" charset="0"/>
              </a:rPr>
              <a:t>Mock&lt;IPasswordHasher&gt; &amp; Mock&lt;IAuditRepository&gt;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LK" sz="1300" dirty="0">
                <a:solidFill>
                  <a:schemeClr val="bg1"/>
                </a:solidFill>
                <a:cs typeface="Times New Roman" panose="02020603050405020304" pitchFamily="18" charset="0"/>
              </a:rPr>
              <a:t>Verify(...) with Times.Once &amp; Times.Never checks behavior</a:t>
            </a:r>
          </a:p>
          <a:p>
            <a:endParaRPr lang="en-LK" dirty="0"/>
          </a:p>
        </p:txBody>
      </p:sp>
      <p:sp>
        <p:nvSpPr>
          <p:cNvPr id="130" name="Card 130"/>
          <p:cNvSpPr/>
          <p:nvPr/>
        </p:nvSpPr>
        <p:spPr>
          <a:xfrm>
            <a:off x="4297680" y="2743200"/>
            <a:ext cx="3657600" cy="329184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Parameterised cases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[Theory] + [</a:t>
            </a:r>
            <a:r>
              <a:rPr lang="en-US" sz="1300" b="0" dirty="0" err="1">
                <a:solidFill>
                  <a:srgbClr val="FFFFFF"/>
                </a:solidFill>
              </a:rPr>
              <a:t>InlineData</a:t>
            </a:r>
            <a:r>
              <a:rPr lang="en-US" sz="1300" b="0" dirty="0">
                <a:solidFill>
                  <a:srgbClr val="FFFFFF"/>
                </a:solidFill>
              </a:rPr>
              <a:t>] runs one test with many inputs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Valid, invalid and boundary values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Used in Auth, Profile, KYC, Pickup and Valuation tests</a:t>
            </a:r>
          </a:p>
        </p:txBody>
      </p:sp>
      <p:sp>
        <p:nvSpPr>
          <p:cNvPr id="131" name="Card 131"/>
          <p:cNvSpPr/>
          <p:nvPr/>
        </p:nvSpPr>
        <p:spPr>
          <a:xfrm>
            <a:off x="8138160" y="274320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Why it matters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Tests the business rules only, in milliseconds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No database or broker needed, so CI is reliable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First gate in the pipeline: a failing test stops the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Mutation Testing</a:t>
            </a:r>
          </a:p>
        </p:txBody>
      </p:sp>
      <p:sp>
        <p:nvSpPr>
          <p:cNvPr id="140" name="Owner 140"/>
          <p:cNvSpPr txBox="1"/>
          <p:nvPr/>
        </p:nvSpPr>
        <p:spPr>
          <a:xfrm>
            <a:off x="457200" y="932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E2D2"/>
                </a:solidFill>
              </a:rPr>
              <a:t>Owner: Ekanayake E M D D B · IT24610796  ·  Stryker.NET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MUTATION SCORE PROGRESSION (%)</a:t>
            </a:r>
          </a:p>
        </p:txBody>
      </p:sp>
      <p:sp>
        <p:nvSpPr>
          <p:cNvPr id="142" name="Bar 142"/>
          <p:cNvSpPr/>
          <p:nvPr/>
        </p:nvSpPr>
        <p:spPr>
          <a:xfrm>
            <a:off x="640080" y="2971800"/>
            <a:ext cx="1280160" cy="1600200"/>
          </a:xfrm>
          <a:prstGeom prst="rect">
            <a:avLst/>
          </a:prstGeom>
          <a:solidFill>
            <a:srgbClr val="56624E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54.3%</a:t>
            </a:r>
          </a:p>
        </p:txBody>
      </p:sp>
      <p:sp>
        <p:nvSpPr>
          <p:cNvPr id="143" name="Label 143"/>
          <p:cNvSpPr txBox="1"/>
          <p:nvPr/>
        </p:nvSpPr>
        <p:spPr>
          <a:xfrm>
            <a:off x="4114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 score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48 mutants survived</a:t>
            </a:r>
          </a:p>
        </p:txBody>
      </p:sp>
      <p:sp>
        <p:nvSpPr>
          <p:cNvPr id="144" name="Bar 144"/>
          <p:cNvSpPr/>
          <p:nvPr/>
        </p:nvSpPr>
        <p:spPr>
          <a:xfrm>
            <a:off x="2468880" y="2088682"/>
            <a:ext cx="1280160" cy="2483317"/>
          </a:xfrm>
          <a:prstGeom prst="rect">
            <a:avLst/>
          </a:prstGeom>
          <a:solidFill>
            <a:srgbClr val="56624E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80.0%</a:t>
            </a:r>
          </a:p>
        </p:txBody>
      </p:sp>
      <p:sp>
        <p:nvSpPr>
          <p:cNvPr id="145" name="Label 145"/>
          <p:cNvSpPr txBox="1"/>
          <p:nvPr/>
        </p:nvSpPr>
        <p:spPr>
          <a:xfrm>
            <a:off x="22402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gate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high quality threshold</a:t>
            </a:r>
          </a:p>
        </p:txBody>
      </p:sp>
      <p:sp>
        <p:nvSpPr>
          <p:cNvPr id="146" name="Bar 146"/>
          <p:cNvSpPr/>
          <p:nvPr/>
        </p:nvSpPr>
        <p:spPr>
          <a:xfrm>
            <a:off x="4297680" y="1764791"/>
            <a:ext cx="1280160" cy="28072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5441"/>
                </a:solidFill>
              </a:rPr>
              <a:t>82.9%</a:t>
            </a:r>
          </a:p>
        </p:txBody>
      </p:sp>
      <p:sp>
        <p:nvSpPr>
          <p:cNvPr id="147" name="Label 147"/>
          <p:cNvSpPr txBox="1"/>
          <p:nvPr/>
        </p:nvSpPr>
        <p:spPr>
          <a:xfrm>
            <a:off x="40690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score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+30 killed over baseline</a:t>
            </a:r>
          </a:p>
        </p:txBody>
      </p:sp>
      <p:cxnSp>
        <p:nvCxnSpPr>
          <p:cNvPr id="148" name="Line 148"/>
          <p:cNvCxnSpPr/>
          <p:nvPr/>
        </p:nvCxnSpPr>
        <p:spPr>
          <a:xfrm>
            <a:off x="502920" y="4572000"/>
            <a:ext cx="5349240" cy="0"/>
          </a:xfrm>
          <a:prstGeom prst="line">
            <a:avLst/>
          </a:prstGeom>
          <a:ln w="19050">
            <a:solidFill>
              <a:srgbClr val="D9E2D2"/>
            </a:solidFill>
            <a:tailEnd type="triangle"/>
          </a:ln>
        </p:spPr>
      </p:cxnSp>
      <p:sp>
        <p:nvSpPr>
          <p:cNvPr id="149" name="Shape 149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LATEST STRYKER REPORT · IdentityService (AuthService)</a:t>
            </a:r>
          </a:p>
        </p:txBody>
      </p:sp>
      <p:sp>
        <p:nvSpPr>
          <p:cNvPr id="150" name="Stat 150"/>
          <p:cNvSpPr/>
          <p:nvPr/>
        </p:nvSpPr>
        <p:spPr>
          <a:xfrm>
            <a:off x="6400800" y="17830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CC070"/>
                </a:solidFill>
              </a:rPr>
              <a:t>82.86%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mutation score</a:t>
            </a:r>
          </a:p>
        </p:txBody>
      </p:sp>
      <p:sp>
        <p:nvSpPr>
          <p:cNvPr id="151" name="Stat 151"/>
          <p:cNvSpPr/>
          <p:nvPr/>
        </p:nvSpPr>
        <p:spPr>
          <a:xfrm>
            <a:off x="9144000" y="1783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87 / 105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mutants killed (+30)</a:t>
            </a:r>
          </a:p>
        </p:txBody>
      </p:sp>
      <p:sp>
        <p:nvSpPr>
          <p:cNvPr id="152" name="Stat 152"/>
          <p:cNvSpPr/>
          <p:nvPr/>
        </p:nvSpPr>
        <p:spPr>
          <a:xfrm>
            <a:off x="6400800" y="29718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66 / 66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unit tests passing</a:t>
            </a:r>
          </a:p>
        </p:txBody>
      </p:sp>
      <p:sp>
        <p:nvSpPr>
          <p:cNvPr id="153" name="Stat 153"/>
          <p:cNvSpPr/>
          <p:nvPr/>
        </p:nvSpPr>
        <p:spPr>
          <a:xfrm>
            <a:off x="9144000" y="29718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~1 min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pipeline execution time</a:t>
            </a:r>
          </a:p>
        </p:txBody>
      </p:sp>
      <p:sp>
        <p:nvSpPr>
          <p:cNvPr id="154" name="Card 154"/>
          <p:cNvSpPr/>
          <p:nvPr/>
        </p:nvSpPr>
        <p:spPr>
          <a:xfrm>
            <a:off x="6400800" y="420624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What we learned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Target AuthService scored 82.86%, surpassing the 80% High Quality Gate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Killed 30 mutants across token expiration, BCrypt hashing, and role claims</a:t>
            </a:r>
          </a:p>
          <a:p>
            <a:pPr marL="228600" indent="-228600" algn="l"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CI/CD: GitHub Actions (mutation-testing.yml) enforces gate &amp; archives HTML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UI / End-to-End Testing</a:t>
            </a:r>
          </a:p>
        </p:txBody>
      </p:sp>
      <p:sp>
        <p:nvSpPr>
          <p:cNvPr id="132" name="Owner 132"/>
          <p:cNvSpPr txBox="1"/>
          <p:nvPr/>
        </p:nvSpPr>
        <p:spPr>
          <a:xfrm>
            <a:off x="457200" y="932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E2D2"/>
                </a:solidFill>
              </a:rPr>
              <a:t>Owner: [Name · IT number]  ·  Selenium WebDriver · xUnit (C#)</a:t>
            </a:r>
          </a:p>
        </p:txBody>
      </p:sp>
      <p:sp>
        <p:nvSpPr>
          <p:cNvPr id="133" name="Stat 133"/>
          <p:cNvSpPr/>
          <p:nvPr/>
        </p:nvSpPr>
        <p:spPr>
          <a:xfrm>
            <a:off x="457200" y="14630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9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automated browser flows</a:t>
            </a:r>
          </a:p>
        </p:txBody>
      </p:sp>
      <p:sp>
        <p:nvSpPr>
          <p:cNvPr id="134" name="Stat 134"/>
          <p:cNvSpPr/>
          <p:nvPr/>
        </p:nvSpPr>
        <p:spPr>
          <a:xfrm>
            <a:off x="457200" y="269748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2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sprints covered (2 and 4)</a:t>
            </a:r>
          </a:p>
        </p:txBody>
      </p:sp>
      <p:sp>
        <p:nvSpPr>
          <p:cNvPr id="135" name="Card 135"/>
          <p:cNvSpPr/>
          <p:nvPr/>
        </p:nvSpPr>
        <p:spPr>
          <a:xfrm>
            <a:off x="457200" y="393192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How it runs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Runs against the live app at localhost:5173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Chrome is driven like a real user: click, type, wait</a:t>
            </a:r>
          </a:p>
          <a:p>
            <a:pPr marL="228600" indent="-228600" algn="l"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Asserts what the user sees on screen</a:t>
            </a:r>
          </a:p>
        </p:txBody>
      </p:sp>
      <p:sp>
        <p:nvSpPr>
          <p:cNvPr id="136" name="Flow 136"/>
          <p:cNvSpPr/>
          <p:nvPr/>
        </p:nvSpPr>
        <p:spPr>
          <a:xfrm>
            <a:off x="3337560" y="146304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343D2F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Auth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Logout clears session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Forgot → reset password</a:t>
            </a:r>
          </a:p>
        </p:txBody>
      </p:sp>
      <p:sp>
        <p:nvSpPr>
          <p:cNvPr id="137" name="Flow 137"/>
          <p:cNvSpPr/>
          <p:nvPr/>
        </p:nvSpPr>
        <p:spPr>
          <a:xfrm>
            <a:off x="7589520" y="146304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343D2F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Pickup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Create → schedule → track → cancel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Recycler assigns a driver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Drop-off marks pickup Collected</a:t>
            </a:r>
          </a:p>
        </p:txBody>
      </p:sp>
      <p:sp>
        <p:nvSpPr>
          <p:cNvPr id="138" name="Flow 138"/>
          <p:cNvSpPr/>
          <p:nvPr/>
        </p:nvSpPr>
        <p:spPr>
          <a:xfrm>
            <a:off x="3337560" y="37947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343D2F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Marketplace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Order paid, then refunded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Sales report filters &amp; export</a:t>
            </a:r>
          </a:p>
        </p:txBody>
      </p:sp>
      <p:sp>
        <p:nvSpPr>
          <p:cNvPr id="139" name="Flow 139"/>
          <p:cNvSpPr/>
          <p:nvPr/>
        </p:nvSpPr>
        <p:spPr>
          <a:xfrm>
            <a:off x="7589520" y="3794760"/>
            <a:ext cx="4069080" cy="2194560"/>
          </a:xfrm>
          <a:prstGeom prst="roundRect">
            <a:avLst>
              <a:gd name="adj" fmla="val 6000"/>
            </a:avLst>
          </a:prstGeom>
          <a:solidFill>
            <a:srgbClr val="343D2F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Cross-service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Scheduling &amp; orders send notifications</a:t>
            </a:r>
          </a:p>
          <a:p>
            <a:pPr marL="228600" indent="-228600" algn="l">
              <a:spcAft>
                <a:spcPts val="400"/>
              </a:spcAft>
              <a:buFont typeface="Arial"/>
              <a:buChar char="•"/>
            </a:pPr>
            <a:r>
              <a:rPr lang="en-US" sz="1300" b="0" dirty="0">
                <a:solidFill>
                  <a:srgbClr val="FFFFFF"/>
                </a:solidFill>
              </a:rPr>
              <a:t>Admin finds item in audit 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Load &amp; Performance Testing</a:t>
            </a:r>
          </a:p>
        </p:txBody>
      </p:sp>
      <p:sp>
        <p:nvSpPr>
          <p:cNvPr id="140" name="Owner 140"/>
          <p:cNvSpPr txBox="1"/>
          <p:nvPr/>
        </p:nvSpPr>
        <p:spPr>
          <a:xfrm>
            <a:off x="457200" y="93268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E2D2"/>
                </a:solidFill>
              </a:rPr>
              <a:t>Owner: [Name · IT number]  ·  Apache JMeter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THREE LOAD PROFILES (concurrent virtual users)</a:t>
            </a:r>
          </a:p>
        </p:txBody>
      </p:sp>
      <p:sp>
        <p:nvSpPr>
          <p:cNvPr id="142" name="Bar 142"/>
          <p:cNvSpPr/>
          <p:nvPr/>
        </p:nvSpPr>
        <p:spPr>
          <a:xfrm>
            <a:off x="640080" y="4251960"/>
            <a:ext cx="1280160" cy="320040"/>
          </a:xfrm>
          <a:prstGeom prst="rect">
            <a:avLst/>
          </a:prstGeom>
          <a:solidFill>
            <a:srgbClr val="56624E"/>
          </a:solidFill>
          <a:ln>
            <a:noFill/>
          </a:ln>
        </p:spPr>
        <p:txBody>
          <a:bodyPr wrap="square" lIns="73152" tIns="73152" rIns="73152" bIns="73152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43" name="Label 143"/>
          <p:cNvSpPr txBox="1"/>
          <p:nvPr/>
        </p:nvSpPr>
        <p:spPr>
          <a:xfrm>
            <a:off x="4114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ramp 60 s · 100 loops</a:t>
            </a:r>
          </a:p>
        </p:txBody>
      </p:sp>
      <p:sp>
        <p:nvSpPr>
          <p:cNvPr id="144" name="Bar 144"/>
          <p:cNvSpPr/>
          <p:nvPr/>
        </p:nvSpPr>
        <p:spPr>
          <a:xfrm>
            <a:off x="2468880" y="3200400"/>
            <a:ext cx="1280160" cy="1371600"/>
          </a:xfrm>
          <a:prstGeom prst="rect">
            <a:avLst/>
          </a:prstGeom>
          <a:solidFill>
            <a:srgbClr val="56624E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145" name="Label 145"/>
          <p:cNvSpPr txBox="1"/>
          <p:nvPr/>
        </p:nvSpPr>
        <p:spPr>
          <a:xfrm>
            <a:off x="22402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Ramp-up to peak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ramp 120 s · 100 loops</a:t>
            </a:r>
          </a:p>
        </p:txBody>
      </p:sp>
      <p:sp>
        <p:nvSpPr>
          <p:cNvPr id="146" name="Bar 146"/>
          <p:cNvSpPr/>
          <p:nvPr/>
        </p:nvSpPr>
        <p:spPr>
          <a:xfrm>
            <a:off x="4297680" y="1828800"/>
            <a:ext cx="1280160" cy="2743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73152" tIns="73152" rIns="73152" bIns="73152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5441"/>
                </a:solidFill>
              </a:rPr>
              <a:t>100</a:t>
            </a:r>
          </a:p>
        </p:txBody>
      </p:sp>
      <p:sp>
        <p:nvSpPr>
          <p:cNvPr id="147" name="Label 147"/>
          <p:cNvSpPr txBox="1"/>
          <p:nvPr/>
        </p:nvSpPr>
        <p:spPr>
          <a:xfrm>
            <a:off x="4069080" y="4645152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 spike</a:t>
            </a:r>
          </a:p>
          <a:p>
            <a:pPr marL="0" indent="0" algn="ctr">
              <a:buNone/>
            </a:pPr>
            <a:r>
              <a:rPr lang="en-US" sz="1000" b="0" dirty="0">
                <a:solidFill>
                  <a:srgbClr val="D9E2D2"/>
                </a:solidFill>
              </a:rPr>
              <a:t>ramp 10 s · 50 loops</a:t>
            </a:r>
          </a:p>
        </p:txBody>
      </p:sp>
      <p:cxnSp>
        <p:nvCxnSpPr>
          <p:cNvPr id="148" name="Line 148"/>
          <p:cNvCxnSpPr/>
          <p:nvPr/>
        </p:nvCxnSpPr>
        <p:spPr>
          <a:xfrm>
            <a:off x="502920" y="4572000"/>
            <a:ext cx="5349240" cy="0"/>
          </a:xfrm>
          <a:prstGeom prst="line">
            <a:avLst/>
          </a:prstGeom>
          <a:ln w="19050">
            <a:solidFill>
              <a:srgbClr val="D9E2D2"/>
            </a:solidFill>
            <a:tailEnd type="triangle"/>
          </a:ln>
        </p:spPr>
      </p:cxnSp>
      <p:sp>
        <p:nvSpPr>
          <p:cNvPr id="149" name="Shape 149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E2D2"/>
                </a:solidFill>
              </a:rPr>
              <a:t>LATEST SUMMARY REPORT · Auth &amp; Pickup endpoints</a:t>
            </a:r>
          </a:p>
        </p:txBody>
      </p:sp>
      <p:sp>
        <p:nvSpPr>
          <p:cNvPr id="150" name="Stat 150"/>
          <p:cNvSpPr/>
          <p:nvPr/>
        </p:nvSpPr>
        <p:spPr>
          <a:xfrm>
            <a:off x="6400800" y="17830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CC070"/>
                </a:solidFill>
              </a:rPr>
              <a:t>0%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error rate</a:t>
            </a:r>
          </a:p>
        </p:txBody>
      </p:sp>
      <p:sp>
        <p:nvSpPr>
          <p:cNvPr id="151" name="Stat 151"/>
          <p:cNvSpPr/>
          <p:nvPr/>
        </p:nvSpPr>
        <p:spPr>
          <a:xfrm>
            <a:off x="9144000" y="1783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48/s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throughput</a:t>
            </a:r>
          </a:p>
        </p:txBody>
      </p:sp>
      <p:sp>
        <p:nvSpPr>
          <p:cNvPr id="152" name="Stat 152"/>
          <p:cNvSpPr/>
          <p:nvPr/>
        </p:nvSpPr>
        <p:spPr>
          <a:xfrm>
            <a:off x="6400800" y="29718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331 ms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login average</a:t>
            </a:r>
          </a:p>
        </p:txBody>
      </p:sp>
      <p:sp>
        <p:nvSpPr>
          <p:cNvPr id="153" name="Stat 153"/>
          <p:cNvSpPr/>
          <p:nvPr/>
        </p:nvSpPr>
        <p:spPr>
          <a:xfrm>
            <a:off x="9144000" y="29718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C000"/>
                </a:solidFill>
              </a:rPr>
              <a:t>454 ms</a:t>
            </a:r>
          </a:p>
          <a:p>
            <a:pPr marL="0" indent="0" algn="l">
              <a:buNone/>
            </a:pPr>
            <a:r>
              <a:rPr lang="en-US" sz="1200" b="0" dirty="0">
                <a:solidFill>
                  <a:srgbClr val="D9E2D2"/>
                </a:solidFill>
              </a:rPr>
              <a:t>login 90th percentile</a:t>
            </a:r>
          </a:p>
        </p:txBody>
      </p:sp>
      <p:sp>
        <p:nvSpPr>
          <p:cNvPr id="154" name="Card 154"/>
          <p:cNvSpPr/>
          <p:nvPr/>
        </p:nvSpPr>
        <p:spPr>
          <a:xfrm>
            <a:off x="6400800" y="420624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C000"/>
                </a:solidFill>
              </a:rPr>
              <a:t>What we learned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Login is the slowest call, likely because BCrypt hashing is deliberately slow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90% of health and pickup reads answer in under 15 ms</a:t>
            </a:r>
          </a:p>
          <a:p>
            <a:pPr marL="228600" indent="-228600" algn="l">
              <a:buFont typeface="Arial"/>
              <a:buChar char="•"/>
            </a:pPr>
            <a:r>
              <a:rPr lang="en-US" sz="1200" b="0" dirty="0">
                <a:solidFill>
                  <a:srgbClr val="FFFFFF"/>
                </a:solidFill>
              </a:rPr>
              <a:t>HTML dashboard report generated for each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11480" y="228600"/>
            <a:ext cx="9326880" cy="685800"/>
          </a:xfrm>
        </p:spPr>
        <p:txBody>
          <a:bodyPr rtlCol="0" anchor="ctr">
            <a:normAutofit/>
          </a:bodyPr>
          <a:lstStyle/>
          <a:p>
            <a:pPr algn="l" rtl="0"/>
            <a:r>
              <a:rPr lang="en-US" sz="3200" b="1" cap="none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Code Quality &amp; Metrics</a:t>
            </a:r>
          </a:p>
        </p:txBody>
      </p:sp>
      <p:sp>
        <p:nvSpPr>
          <p:cNvPr id="155" name="Owner 155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D9E2D2"/>
                </a:solidFill>
              </a:rPr>
              <a:t>Owner: Rajapaksha R M M D C · IT24610798  ·  Roslyn Analyzers · Coverlet · ReportGenerator · SonarQube</a:t>
            </a:r>
          </a:p>
        </p:txBody>
      </p:sp>
      <p:sp>
        <p:nvSpPr>
          <p:cNvPr id="156" name="Tile 156"/>
          <p:cNvSpPr/>
          <p:nvPr/>
        </p:nvSpPr>
        <p:spPr>
          <a:xfrm>
            <a:off x="457200" y="146304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endParaRPr lang="en-US"/>
          </a:p>
        </p:txBody>
      </p:sp>
      <p:sp>
        <p:nvSpPr>
          <p:cNvPr id="157" name="Grade 157"/>
          <p:cNvSpPr/>
          <p:nvPr/>
        </p:nvSpPr>
        <p:spPr>
          <a:xfrm>
            <a:off x="594360" y="1600200"/>
            <a:ext cx="548640" cy="548640"/>
          </a:xfrm>
          <a:prstGeom prst="ellipse">
            <a:avLst/>
          </a:prstGeom>
          <a:solidFill>
            <a:srgbClr val="E5534B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58" name="GradeLabel 158"/>
          <p:cNvSpPr txBox="1"/>
          <p:nvPr/>
        </p:nvSpPr>
        <p:spPr>
          <a:xfrm>
            <a:off x="566928" y="221284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Security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9E2D2"/>
                </a:solidFill>
              </a:rPr>
              <a:t>11 vulnerabilities</a:t>
            </a:r>
          </a:p>
        </p:txBody>
      </p:sp>
      <p:sp>
        <p:nvSpPr>
          <p:cNvPr id="159" name="Tile 159"/>
          <p:cNvSpPr/>
          <p:nvPr/>
        </p:nvSpPr>
        <p:spPr>
          <a:xfrm>
            <a:off x="2560320" y="146304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endParaRPr lang="en-US"/>
          </a:p>
        </p:txBody>
      </p:sp>
      <p:sp>
        <p:nvSpPr>
          <p:cNvPr id="160" name="Grade 160"/>
          <p:cNvSpPr/>
          <p:nvPr/>
        </p:nvSpPr>
        <p:spPr>
          <a:xfrm>
            <a:off x="2697480" y="1600200"/>
            <a:ext cx="548640" cy="5486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61" name="GradeLabel 161"/>
          <p:cNvSpPr txBox="1"/>
          <p:nvPr/>
        </p:nvSpPr>
        <p:spPr>
          <a:xfrm>
            <a:off x="2670048" y="221284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Reliability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D9E2D2"/>
                </a:solidFill>
              </a:rPr>
              <a:t>140 issues</a:t>
            </a:r>
          </a:p>
        </p:txBody>
      </p:sp>
      <p:sp>
        <p:nvSpPr>
          <p:cNvPr id="162" name="Tile 162"/>
          <p:cNvSpPr/>
          <p:nvPr/>
        </p:nvSpPr>
        <p:spPr>
          <a:xfrm>
            <a:off x="4663440" y="146304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343D2F"/>
          </a:solidFill>
          <a:ln>
            <a:noFill/>
          </a:ln>
        </p:spPr>
        <p:txBody>
          <a:bodyPr wrap="square" lIns="91440" tIns="91440" rIns="91440" bIns="91440" rtlCol="0" anchor="t">
            <a:normAutofit/>
          </a:bodyPr>
          <a:lstStyle/>
          <a:p>
            <a:endParaRPr lang="en-US"/>
          </a:p>
        </p:txBody>
      </p:sp>
      <p:sp>
        <p:nvSpPr>
          <p:cNvPr id="163" name="Grade 163"/>
          <p:cNvSpPr/>
          <p:nvPr/>
        </p:nvSpPr>
        <p:spPr>
          <a:xfrm>
            <a:off x="4800600" y="1600200"/>
            <a:ext cx="548640" cy="548640"/>
          </a:xfrm>
          <a:prstGeom prst="ellipse">
            <a:avLst/>
          </a:prstGeom>
          <a:solidFill>
            <a:srgbClr val="6CC070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4" name="GradeLabel 164"/>
          <p:cNvSpPr txBox="1"/>
          <p:nvPr/>
        </p:nvSpPr>
        <p:spPr>
          <a:xfrm>
            <a:off x="4773168" y="2212848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Maintainability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D9E2D2"/>
                </a:solidFill>
              </a:rPr>
              <a:t>171 code smells</a:t>
            </a:r>
          </a:p>
        </p:txBody>
      </p:sp>
      <p:sp>
        <p:nvSpPr>
          <p:cNvPr id="165" name="Metric 165"/>
          <p:cNvSpPr/>
          <p:nvPr/>
        </p:nvSpPr>
        <p:spPr>
          <a:xfrm>
            <a:off x="6812280" y="146304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343D2F"/>
          </a:solidFill>
          <a:ln>
            <a:noFill/>
          </a:ln>
        </p:spPr>
        <p:txBody>
          <a:bodyPr wrap="square" lIns="128016" tIns="128016" rIns="128016" bIns="128016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C000"/>
                </a:solidFill>
              </a:rPr>
              <a:t>33.5%-line</a:t>
            </a:r>
            <a:r>
              <a:rPr lang="en-US" sz="1600" b="0" dirty="0">
                <a:solidFill>
                  <a:srgbClr val="D9E2D2"/>
                </a:solidFill>
              </a:rPr>
              <a:t> coverage</a:t>
            </a:r>
          </a:p>
        </p:txBody>
      </p:sp>
      <p:sp>
        <p:nvSpPr>
          <p:cNvPr id="166" name="Metric 166"/>
          <p:cNvSpPr/>
          <p:nvPr/>
        </p:nvSpPr>
        <p:spPr>
          <a:xfrm>
            <a:off x="9326880" y="146304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343D2F"/>
          </a:solidFill>
          <a:ln>
            <a:noFill/>
          </a:ln>
        </p:spPr>
        <p:txBody>
          <a:bodyPr wrap="square" lIns="128016" tIns="128016" rIns="128016" bIns="128016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C000"/>
                </a:solidFill>
              </a:rPr>
              <a:t>6.5%  </a:t>
            </a:r>
            <a:r>
              <a:rPr lang="en-US" sz="1600" b="0" dirty="0">
                <a:solidFill>
                  <a:srgbClr val="D9E2D2"/>
                </a:solidFill>
              </a:rPr>
              <a:t>branch coverage</a:t>
            </a:r>
          </a:p>
        </p:txBody>
      </p:sp>
      <p:sp>
        <p:nvSpPr>
          <p:cNvPr id="167" name="Metric 167"/>
          <p:cNvSpPr/>
          <p:nvPr/>
        </p:nvSpPr>
        <p:spPr>
          <a:xfrm>
            <a:off x="6812280" y="21945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343D2F"/>
          </a:solidFill>
          <a:ln>
            <a:noFill/>
          </a:ln>
        </p:spPr>
        <p:txBody>
          <a:bodyPr wrap="square" lIns="128016" tIns="128016" rIns="128016" bIns="128016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C000"/>
                </a:solidFill>
              </a:rPr>
              <a:t>7.0%  </a:t>
            </a:r>
            <a:r>
              <a:rPr lang="en-US" sz="1600" b="0" dirty="0">
                <a:solidFill>
                  <a:srgbClr val="D9E2D2"/>
                </a:solidFill>
              </a:rPr>
              <a:t>duplication</a:t>
            </a:r>
          </a:p>
        </p:txBody>
      </p:sp>
      <p:sp>
        <p:nvSpPr>
          <p:cNvPr id="168" name="Metric 168"/>
          <p:cNvSpPr/>
          <p:nvPr/>
        </p:nvSpPr>
        <p:spPr>
          <a:xfrm>
            <a:off x="9326880" y="21945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343D2F"/>
          </a:solidFill>
          <a:ln>
            <a:noFill/>
          </a:ln>
        </p:spPr>
        <p:txBody>
          <a:bodyPr wrap="square" lIns="128016" tIns="128016" rIns="128016" bIns="128016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C000"/>
                </a:solidFill>
              </a:rPr>
              <a:t>1d 1h  </a:t>
            </a:r>
            <a:r>
              <a:rPr lang="en-US" sz="1600" b="0" dirty="0">
                <a:solidFill>
                  <a:srgbClr val="D9E2D2"/>
                </a:solidFill>
              </a:rPr>
              <a:t>technical debt</a:t>
            </a:r>
          </a:p>
        </p:txBody>
      </p:sp>
      <p:sp>
        <p:nvSpPr>
          <p:cNvPr id="169" name="Gate 169"/>
          <p:cNvSpPr/>
          <p:nvPr/>
        </p:nvSpPr>
        <p:spPr>
          <a:xfrm>
            <a:off x="457200" y="3108960"/>
            <a:ext cx="4206240" cy="292608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500"/>
              </a:spcAft>
              <a:buNone/>
            </a:pPr>
            <a:r>
              <a:rPr lang="en-US" b="1" dirty="0">
                <a:solidFill>
                  <a:srgbClr val="FFC000"/>
                </a:solidFill>
              </a:rPr>
              <a:t>Quality gate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6CC070"/>
                </a:solidFill>
              </a:rPr>
              <a:t>PASS  </a:t>
            </a:r>
            <a:r>
              <a:rPr lang="en-US" sz="1600" b="0" dirty="0">
                <a:solidFill>
                  <a:srgbClr val="FFFFFF"/>
                </a:solidFill>
              </a:rPr>
              <a:t>159 / 159-unit tests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6CC070"/>
                </a:solidFill>
              </a:rPr>
              <a:t>PASS  </a:t>
            </a:r>
            <a:r>
              <a:rPr lang="en-US" sz="1600" b="0" dirty="0">
                <a:solidFill>
                  <a:srgbClr val="FFFFFF"/>
                </a:solidFill>
              </a:rPr>
              <a:t>line ≥ 20%, branch ≥ 5%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6CC070"/>
                </a:solidFill>
              </a:rPr>
              <a:t>PASS  </a:t>
            </a:r>
            <a:r>
              <a:rPr lang="en-US" sz="1600" b="0" dirty="0">
                <a:solidFill>
                  <a:srgbClr val="FFFFFF"/>
                </a:solidFill>
              </a:rPr>
              <a:t>analyzer warnings ≤ 45 (42 found)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CC070"/>
                </a:solidFill>
              </a:rPr>
              <a:t>PASS  </a:t>
            </a:r>
            <a:r>
              <a:rPr lang="en-US" sz="1600" b="0" dirty="0">
                <a:solidFill>
                  <a:srgbClr val="FFFFFF"/>
                </a:solidFill>
              </a:rPr>
              <a:t>SonarQube EcoTrack Gate</a:t>
            </a:r>
          </a:p>
          <a:p>
            <a:pPr marL="0" indent="0" algn="l">
              <a:buNone/>
            </a:pPr>
            <a:r>
              <a:rPr lang="en-US" sz="1400" b="0" dirty="0">
                <a:solidFill>
                  <a:srgbClr val="D9E2D2"/>
                </a:solidFill>
              </a:rPr>
              <a:t>Ratchet: the gate is set at today's baseline, so quality can never get worse. New code must reach 80% coverage with 0 new issues.</a:t>
            </a:r>
          </a:p>
        </p:txBody>
      </p:sp>
      <p:sp>
        <p:nvSpPr>
          <p:cNvPr id="170" name="Card 170"/>
          <p:cNvSpPr/>
          <p:nvPr/>
        </p:nvSpPr>
        <p:spPr>
          <a:xfrm>
            <a:off x="4846320" y="3108960"/>
            <a:ext cx="6903720" cy="2926080"/>
          </a:xfrm>
          <a:prstGeom prst="roundRect">
            <a:avLst>
              <a:gd name="adj" fmla="val 6000"/>
            </a:avLst>
          </a:prstGeom>
          <a:solidFill>
            <a:srgbClr val="56624E"/>
          </a:solidFill>
          <a:ln>
            <a:noFill/>
          </a:ln>
        </p:spPr>
        <p:txBody>
          <a:bodyPr wrap="square" lIns="164592" tIns="164592" rIns="164592" bIns="164592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b="1" dirty="0">
                <a:solidFill>
                  <a:srgbClr val="FFC000"/>
                </a:solidFill>
              </a:rPr>
              <a:t>What the tools found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Vulnerability: </a:t>
            </a:r>
            <a:r>
              <a:rPr lang="en-US" sz="1600" b="0" dirty="0">
                <a:solidFill>
                  <a:srgbClr val="FFFFFF"/>
                </a:solidFill>
              </a:rPr>
              <a:t>JWT secret key committed in appsettings.json. Fix: move to environment variables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Riskiest method: </a:t>
            </a:r>
            <a:r>
              <a:rPr lang="en-US" sz="1600" b="0" dirty="0">
                <a:solidFill>
                  <a:srgbClr val="FFFFFF"/>
                </a:solidFill>
              </a:rPr>
              <a:t>ValuationRepository.MapValuation, complexity 28 and untested (CRAP score 812)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Test smell: </a:t>
            </a:r>
            <a:r>
              <a:rPr lang="en-US" sz="1600" b="0" dirty="0">
                <a:solidFill>
                  <a:srgbClr val="FFFFFF"/>
                </a:solidFill>
              </a:rPr>
              <a:t>MarketplaceTests pass but never call production code, so they add 0% coverage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Security log: </a:t>
            </a:r>
            <a:r>
              <a:rPr lang="en-US" sz="1600" b="0" dirty="0">
                <a:solidFill>
                  <a:srgbClr val="FFFFFF"/>
                </a:solidFill>
              </a:rPr>
              <a:t>password-reset token printed to the console during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1968_TF16411246_Win32" id="{E36AA01E-7842-4DD7-A9F3-C647AD9160A8}" vid="{DEC7294E-E9CA-402C-921C-25E84B5A28D7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F18AE-D61A-46A3-9130-AB96E8088727}">
  <ds:schemaRefs>
    <ds:schemaRef ds:uri="http://purl.org/dc/elements/1.1/"/>
    <ds:schemaRef ds:uri="http://schemas.openxmlformats.org/package/2006/metadata/core-properties"/>
    <ds:schemaRef ds:uri="71af3243-3dd4-4a8d-8c0d-dd76da1f02a5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16c05727-aa75-4e4a-9b5f-8a80a1165891"/>
    <ds:schemaRef ds:uri="http://schemas.microsoft.com/sharepoint/v3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Presentazione ristorante</Template>
  <TotalTime>5015</TotalTime>
  <Words>847</Words>
  <Application>Microsoft Office PowerPoint</Application>
  <PresentationFormat>Widescreen</PresentationFormat>
  <Paragraphs>159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Avenir Next LT Pro</vt:lpstr>
      <vt:lpstr>Calibri</vt:lpstr>
      <vt:lpstr>Calisto MT</vt:lpstr>
      <vt:lpstr>Courier New</vt:lpstr>
      <vt:lpstr>Kunstler Script</vt:lpstr>
      <vt:lpstr>Times New Roman</vt:lpstr>
      <vt:lpstr>Tema di Office</vt:lpstr>
      <vt:lpstr>ECO Track</vt:lpstr>
      <vt:lpstr>Architecture &amp; Test Automation Pipeline</vt:lpstr>
      <vt:lpstr>Unit Testing &amp; Mocking</vt:lpstr>
      <vt:lpstr>Mutation Testing</vt:lpstr>
      <vt:lpstr>UI / End-to-End Testing</vt:lpstr>
      <vt:lpstr>Load &amp; Performance Testing</vt:lpstr>
      <vt:lpstr>Code Quality &amp;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GOLDEN STARS HOTEL</dc:title>
  <dc:creator>Hashini Rajapaksha</dc:creator>
  <cp:lastModifiedBy>Dilanka Dineth</cp:lastModifiedBy>
  <cp:revision>89</cp:revision>
  <dcterms:created xsi:type="dcterms:W3CDTF">2026-03-03T07:40:05Z</dcterms:created>
  <dcterms:modified xsi:type="dcterms:W3CDTF">2026-10-18T15:45:11Z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